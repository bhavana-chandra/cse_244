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F378545-AD69-4AA7-97F1-182513D66868}">
  <a:tblStyle styleId="{FF378545-AD69-4AA7-97F1-182513D66868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83571c2be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g3783571c2be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83571c2be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8" name="Google Shape;128;g3783571c2be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83571c2be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g3783571c2be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0" name="Google Shape;16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7" name="Google Shape;1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3" name="Google Shape;17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5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havana-Chandra/CSE_244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se-244-4m7l.vercel.app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449901" y="1082350"/>
            <a:ext cx="11544600" cy="9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LET’S LEARN CONSTITUTION IN A SIMPLER MANNER-CITIZEN PERSPECTIVE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Batch Number: CSE_244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480195" y="2597640"/>
            <a:ext cx="5514300" cy="20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17365D"/>
                </a:solidFill>
              </a:rPr>
              <a:t>Under the Supervision of,</a:t>
            </a:r>
            <a:endParaRPr sz="1800" i="0" u="none" strike="noStrike" cap="none" dirty="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700" b="1" dirty="0">
                <a:solidFill>
                  <a:srgbClr val="17365D"/>
                </a:solidFill>
              </a:rPr>
              <a:t>Mr. Vinayak Raju Kage</a:t>
            </a:r>
            <a:endParaRPr sz="1400" i="0" u="none" strike="noStrike" cap="none" dirty="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700" b="1" i="0" u="none" strike="noStrike" cap="none" dirty="0">
                <a:solidFill>
                  <a:srgbClr val="17365D"/>
                </a:solidFill>
              </a:rPr>
              <a:t>Assistant Professor</a:t>
            </a:r>
            <a:endParaRPr sz="1400" i="0" u="none" strike="noStrike" cap="none" dirty="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700" b="1" i="0" u="none" strike="noStrike" cap="none" dirty="0">
                <a:solidFill>
                  <a:srgbClr val="17365D"/>
                </a:solidFill>
              </a:rPr>
              <a:t>School of Computer Science and Engineering</a:t>
            </a:r>
            <a:endParaRPr sz="1400" i="0" u="none" strike="noStrike" cap="none" dirty="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700" b="1" i="0" u="none" strike="noStrike" cap="none" dirty="0">
                <a:solidFill>
                  <a:srgbClr val="17365D"/>
                </a:solidFill>
              </a:rPr>
              <a:t>Presidency University</a:t>
            </a:r>
            <a:endParaRPr sz="1400" i="0" u="none" strike="noStrike" cap="none" dirty="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</a:endParaRPr>
          </a:p>
        </p:txBody>
      </p:sp>
      <p:graphicFrame>
        <p:nvGraphicFramePr>
          <p:cNvPr id="90" name="Google Shape;90;p13"/>
          <p:cNvGraphicFramePr/>
          <p:nvPr/>
        </p:nvGraphicFramePr>
        <p:xfrm>
          <a:off x="606797" y="2597640"/>
          <a:ext cx="5418675" cy="1828850"/>
        </p:xfrm>
        <a:graphic>
          <a:graphicData uri="http://schemas.openxmlformats.org/drawingml/2006/table">
            <a:tbl>
              <a:tblPr firstRow="1" bandRow="1">
                <a:noFill/>
                <a:tableStyleId>{FF378545-AD69-4AA7-97F1-182513D66868}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125"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Roll Number</a:t>
                      </a:r>
                      <a:endParaRPr sz="1800" b="1" u="none" strike="noStrike" cap="none">
                        <a:solidFill>
                          <a:srgbClr val="17365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Student Name</a:t>
                      </a:r>
                      <a:endParaRPr sz="1800" b="1" u="none" strike="noStrike" cap="none">
                        <a:solidFill>
                          <a:srgbClr val="17365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20221CSE0652 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ANEESA MA 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20221CSE0658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BHAVANA C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20221CSE0660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BODHINI DB</a:t>
                      </a: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790475" y="136450"/>
            <a:ext cx="10691400" cy="7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17365D"/>
                </a:solidFill>
              </a:rPr>
              <a:t>CSE7101- Capstone Project</a:t>
            </a:r>
            <a:endParaRPr sz="1800" i="0" u="none" strike="noStrike" cap="none" dirty="0">
              <a:solidFill>
                <a:srgbClr val="000000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17365D"/>
                </a:solidFill>
              </a:rPr>
              <a:t>Final Review</a:t>
            </a:r>
            <a:endParaRPr sz="1800" b="1" i="0" u="none" strike="noStrike" cap="none" dirty="0">
              <a:solidFill>
                <a:srgbClr val="17365D"/>
              </a:solidFill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705324" y="4533900"/>
            <a:ext cx="1154460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</a:rPr>
              <a:t>Name of the Program: </a:t>
            </a:r>
            <a:r>
              <a:rPr lang="en-US" sz="1800" b="1" dirty="0">
                <a:solidFill>
                  <a:srgbClr val="17365D"/>
                </a:solidFill>
              </a:rPr>
              <a:t>CSE7101- Capstone Project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</a:rPr>
              <a:t>Name of the </a:t>
            </a:r>
            <a:r>
              <a:rPr lang="en-US" sz="1800" b="1" i="0" u="none" strike="noStrike" cap="none" dirty="0" err="1">
                <a:solidFill>
                  <a:schemeClr val="accent1"/>
                </a:solidFill>
              </a:rPr>
              <a:t>HoD</a:t>
            </a:r>
            <a:r>
              <a:rPr lang="en-US" sz="1800" b="1" i="0" u="none" strike="noStrike" cap="none" dirty="0">
                <a:solidFill>
                  <a:schemeClr val="accent1"/>
                </a:solidFill>
              </a:rPr>
              <a:t>: </a:t>
            </a:r>
            <a:r>
              <a:rPr lang="en-US" sz="1800" b="1" dirty="0">
                <a:solidFill>
                  <a:srgbClr val="FF0000"/>
                </a:solidFill>
              </a:rPr>
              <a:t>Dr. Blessed Prince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</a:rPr>
              <a:t>Name of the Program Project Coordinator: </a:t>
            </a:r>
            <a:r>
              <a:rPr lang="en-US" sz="1800" b="1" dirty="0">
                <a:solidFill>
                  <a:srgbClr val="FF0000"/>
                </a:solidFill>
              </a:rPr>
              <a:t>Mr. </a:t>
            </a:r>
            <a:r>
              <a:rPr lang="en-US" sz="1800" b="1" dirty="0" err="1">
                <a:solidFill>
                  <a:srgbClr val="FF0000"/>
                </a:solidFill>
              </a:rPr>
              <a:t>Muthuraju</a:t>
            </a:r>
            <a:r>
              <a:rPr lang="en-US" sz="1800" b="1" dirty="0">
                <a:solidFill>
                  <a:srgbClr val="FF0000"/>
                </a:solidFill>
              </a:rPr>
              <a:t> V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rgbClr val="FF0000"/>
                </a:solidFill>
              </a:rPr>
              <a:t>Dr. Sampath A 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Examiners: </a:t>
            </a:r>
            <a:r>
              <a:rPr lang="en-US" sz="1800" b="1" dirty="0" err="1">
                <a:solidFill>
                  <a:srgbClr val="FF0000"/>
                </a:solidFill>
              </a:rPr>
              <a:t>Tigulla</a:t>
            </a:r>
            <a:r>
              <a:rPr lang="en-US" sz="1800" b="1" dirty="0">
                <a:solidFill>
                  <a:srgbClr val="FF0000"/>
                </a:solidFill>
              </a:rPr>
              <a:t> Rajitha, Varalakshmi T</a:t>
            </a:r>
            <a:endParaRPr sz="1800" b="1" i="0" u="none" strike="noStrike" cap="none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Content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>
            <a:off x="655782" y="1090773"/>
            <a:ext cx="10668000" cy="3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lvl="0" indent="-322035" algn="just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071"/>
              <a:buChar char="•"/>
            </a:pPr>
            <a:r>
              <a:rPr lang="en-US" sz="1660"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1660">
              <a:latin typeface="Arial"/>
              <a:ea typeface="Arial"/>
              <a:cs typeface="Arial"/>
              <a:sym typeface="Arial"/>
            </a:endParaRPr>
          </a:p>
          <a:p>
            <a:pPr marL="495300" lvl="0" indent="-322035" algn="just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071"/>
              <a:buChar char="•"/>
            </a:pPr>
            <a:r>
              <a:rPr lang="en-US" sz="1660">
                <a:latin typeface="Arial"/>
                <a:ea typeface="Arial"/>
                <a:cs typeface="Arial"/>
                <a:sym typeface="Arial"/>
              </a:rPr>
              <a:t>Objectives</a:t>
            </a:r>
            <a:endParaRPr sz="1660">
              <a:latin typeface="Arial"/>
              <a:ea typeface="Arial"/>
              <a:cs typeface="Arial"/>
              <a:sym typeface="Arial"/>
            </a:endParaRPr>
          </a:p>
          <a:p>
            <a:pPr marL="495300" lvl="0" indent="-322035" algn="just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071"/>
              <a:buChar char="•"/>
            </a:pPr>
            <a:r>
              <a:rPr lang="en-US" sz="1660">
                <a:latin typeface="Arial"/>
                <a:ea typeface="Arial"/>
                <a:cs typeface="Arial"/>
                <a:sym typeface="Arial"/>
              </a:rPr>
              <a:t>Background and Related work for title Selection</a:t>
            </a:r>
            <a:endParaRPr sz="1660">
              <a:latin typeface="Arial"/>
              <a:ea typeface="Arial"/>
              <a:cs typeface="Arial"/>
              <a:sym typeface="Arial"/>
            </a:endParaRPr>
          </a:p>
          <a:p>
            <a:pPr marL="495300" lvl="0" indent="-322035" algn="just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071"/>
              <a:buChar char="•"/>
            </a:pPr>
            <a:r>
              <a:rPr lang="en-US" sz="1660">
                <a:latin typeface="Arial"/>
                <a:ea typeface="Arial"/>
                <a:cs typeface="Arial"/>
                <a:sym typeface="Arial"/>
              </a:rPr>
              <a:t>Analysis of Problem Statement</a:t>
            </a:r>
            <a:endParaRPr sz="1660">
              <a:latin typeface="Arial"/>
              <a:ea typeface="Arial"/>
              <a:cs typeface="Arial"/>
              <a:sym typeface="Arial"/>
            </a:endParaRPr>
          </a:p>
          <a:p>
            <a:pPr marL="495300" lvl="0" indent="-322035" algn="just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071"/>
              <a:buChar char="•"/>
            </a:pPr>
            <a:r>
              <a:rPr lang="en-US" sz="1660">
                <a:latin typeface="Arial"/>
                <a:ea typeface="Arial"/>
                <a:cs typeface="Arial"/>
                <a:sym typeface="Arial"/>
              </a:rPr>
              <a:t>Innovation or Novel Contributions</a:t>
            </a:r>
            <a:endParaRPr sz="1979">
              <a:latin typeface="Arial"/>
              <a:ea typeface="Arial"/>
              <a:cs typeface="Arial"/>
              <a:sym typeface="Arial"/>
            </a:endParaRPr>
          </a:p>
          <a:p>
            <a:pPr marL="495300" lvl="0" indent="-322035" algn="just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071"/>
              <a:buChar char="•"/>
            </a:pPr>
            <a:r>
              <a:rPr lang="en-US" sz="1660">
                <a:latin typeface="Arial"/>
                <a:ea typeface="Arial"/>
                <a:cs typeface="Arial"/>
                <a:sym typeface="Arial"/>
              </a:rPr>
              <a:t>Github Link</a:t>
            </a:r>
            <a:endParaRPr sz="1660">
              <a:latin typeface="Arial"/>
              <a:ea typeface="Arial"/>
              <a:cs typeface="Arial"/>
              <a:sym typeface="Arial"/>
            </a:endParaRPr>
          </a:p>
          <a:p>
            <a:pPr marL="495300" lvl="0" indent="-322035" algn="just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71"/>
              <a:buChar char="•"/>
            </a:pPr>
            <a:r>
              <a:rPr lang="en-US" sz="1660">
                <a:latin typeface="Arial"/>
                <a:ea typeface="Arial"/>
                <a:cs typeface="Arial"/>
                <a:sym typeface="Arial"/>
              </a:rPr>
              <a:t>Timeline of the Project</a:t>
            </a:r>
            <a:endParaRPr sz="1660">
              <a:latin typeface="Arial"/>
              <a:ea typeface="Arial"/>
              <a:cs typeface="Arial"/>
              <a:sym typeface="Arial"/>
            </a:endParaRPr>
          </a:p>
          <a:p>
            <a:pPr marL="495300" lvl="0" indent="-322035" algn="just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71"/>
              <a:buChar char="•"/>
            </a:pPr>
            <a:r>
              <a:rPr lang="en-US" sz="1660">
                <a:latin typeface="Arial"/>
                <a:ea typeface="Arial"/>
                <a:cs typeface="Arial"/>
                <a:sym typeface="Arial"/>
              </a:rPr>
              <a:t>References</a:t>
            </a:r>
            <a:endParaRPr sz="1660">
              <a:latin typeface="Arial"/>
              <a:ea typeface="Arial"/>
              <a:cs typeface="Arial"/>
              <a:sym typeface="Arial"/>
            </a:endParaRPr>
          </a:p>
          <a:p>
            <a:pPr marL="495300" lvl="0" indent="-190500" algn="just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1"/>
              <a:buFont typeface="Noto Sans Symbols"/>
              <a:buNone/>
            </a:pPr>
            <a:endParaRPr sz="1660">
              <a:latin typeface="Arial"/>
              <a:ea typeface="Arial"/>
              <a:cs typeface="Arial"/>
              <a:sym typeface="Arial"/>
            </a:endParaRPr>
          </a:p>
          <a:p>
            <a:pPr marL="495300" lvl="0" indent="-190500" algn="just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1"/>
              <a:buFont typeface="Noto Sans Symbols"/>
              <a:buNone/>
            </a:pPr>
            <a:endParaRPr sz="1660">
              <a:latin typeface="Arial"/>
              <a:ea typeface="Arial"/>
              <a:cs typeface="Arial"/>
              <a:sym typeface="Arial"/>
            </a:endParaRPr>
          </a:p>
          <a:p>
            <a:pPr marL="495300" lvl="0" indent="-190500" algn="just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1"/>
              <a:buFont typeface="Noto Sans Symbols"/>
              <a:buNone/>
            </a:pPr>
            <a:endParaRPr sz="166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Problem Statement Number : 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PSCS_333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Organization: Ministry of Law &amp; Justice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Category      : Software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Problem Description: 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   There is a lack of constitutional literacy among citizens due to the complex language and limited accessibility of the Constitution of India. This project aims to develop </a:t>
            </a:r>
            <a:r>
              <a:rPr lang="en-US" sz="1600" i="1" dirty="0">
                <a:latin typeface="Arial"/>
                <a:ea typeface="Arial"/>
                <a:cs typeface="Arial"/>
                <a:sym typeface="Arial"/>
              </a:rPr>
              <a:t>“Let’s Learn Constitution in a Simple Manner – Citizen Perspective: A Comprehensive Digital Learning Platform"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 — an innovative, interactive digital platform that simplifies key constitutional elements, including the Preamble, Fundamental Rights, Directive Principles, and Fundamental Duties, into an accessible and engaging format. The solution will feature a comprehensive backend database, multilingual support, and multimedia integration to promote inclusivity. Through interactive simulations and scenario-based activities, the platform will enhance understanding of constitutional concepts, enabling citizens—especially youth—to make informed decisions about their rights and duties.</a:t>
            </a:r>
            <a:endParaRPr sz="29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Objectives of Problem Statement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 txBox="1">
            <a:spLocks noGrp="1"/>
          </p:cNvSpPr>
          <p:nvPr>
            <p:ph type="body" idx="1"/>
          </p:nvPr>
        </p:nvSpPr>
        <p:spPr>
          <a:xfrm>
            <a:off x="81265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Simplify key parts of the Constitution into clear, everyday language.</a:t>
            </a:r>
            <a:br>
              <a:rPr lang="en-US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Build a structured digital knowledge hub for simplified content.</a:t>
            </a:r>
            <a:br>
              <a:rPr lang="en-US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Create interactive, real-life scenario-based learning modules.</a:t>
            </a:r>
            <a:br>
              <a:rPr lang="en-US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Integrate an AI assistant for quick, simple constitutional guidance.</a:t>
            </a:r>
            <a:br>
              <a:rPr lang="en-US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Ensure multilingual and accessible design for all users.</a:t>
            </a:r>
            <a:br>
              <a:rPr lang="en-US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Track user learning progress with milestones and leaderboards.</a:t>
            </a:r>
            <a:br>
              <a:rPr lang="en-US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Deliver a functional, user-tested web application prototype.</a:t>
            </a:r>
            <a:br>
              <a:rPr lang="en-US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6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Background and Related work for title Selection</a:t>
            </a:r>
            <a:endParaRPr sz="3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7"/>
          <p:cNvSpPr txBox="1">
            <a:spLocks noGrp="1"/>
          </p:cNvSpPr>
          <p:nvPr>
            <p:ph type="body" idx="1"/>
          </p:nvPr>
        </p:nvSpPr>
        <p:spPr>
          <a:xfrm>
            <a:off x="502000" y="1143000"/>
            <a:ext cx="6933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Background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Constitution of India: Supreme law defining governance, rights, and duties.</a:t>
            </a:r>
            <a:br>
              <a:rPr lang="en-US" sz="1300">
                <a:latin typeface="Arial"/>
                <a:ea typeface="Arial"/>
                <a:cs typeface="Arial"/>
                <a:sym typeface="Arial"/>
              </a:rPr>
            </a:b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Citizens face difficulty due to complex legal language &amp; limited accessibility.</a:t>
            </a:r>
            <a:br>
              <a:rPr lang="en-US" sz="1300">
                <a:latin typeface="Arial"/>
                <a:ea typeface="Arial"/>
                <a:cs typeface="Arial"/>
                <a:sym typeface="Arial"/>
              </a:rPr>
            </a:b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Ministry of Justice calls for an engaging, simplified, and inclusive platform.</a:t>
            </a:r>
            <a:br>
              <a:rPr lang="en-US" sz="1300">
                <a:latin typeface="Arial"/>
                <a:ea typeface="Arial"/>
                <a:cs typeface="Arial"/>
                <a:sym typeface="Arial"/>
              </a:rPr>
            </a:b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Related Work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Govt. portals (e.g., India Code) → Detailed but not interactive or simplified.</a:t>
            </a:r>
            <a:br>
              <a:rPr lang="en-US" sz="1300">
                <a:latin typeface="Arial"/>
                <a:ea typeface="Arial"/>
                <a:cs typeface="Arial"/>
                <a:sym typeface="Arial"/>
              </a:rPr>
            </a:b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Educational apps → Mostly static quizzes, lacking real-life context.</a:t>
            </a:r>
            <a:br>
              <a:rPr lang="en-US" sz="1300">
                <a:latin typeface="Arial"/>
                <a:ea typeface="Arial"/>
                <a:cs typeface="Arial"/>
                <a:sym typeface="Arial"/>
              </a:rPr>
            </a:b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Awareness campaigns → One-time efforts, not continuous learning.</a:t>
            </a:r>
            <a:br>
              <a:rPr lang="en-US" sz="1300">
                <a:latin typeface="Arial"/>
                <a:ea typeface="Arial"/>
                <a:cs typeface="Arial"/>
                <a:sym typeface="Arial"/>
              </a:rPr>
            </a:b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Gap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No unified platform combining </a:t>
            </a: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simplified content + real-life simulations + AI guidance + multilingual access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for sustained constitutional learning.</a:t>
            </a:r>
            <a:br>
              <a:rPr lang="en-US" sz="1300">
                <a:latin typeface="Arial"/>
                <a:ea typeface="Arial"/>
                <a:cs typeface="Arial"/>
                <a:sym typeface="Arial"/>
              </a:rPr>
            </a:b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marL="15240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" name="Google Shape;117;p17"/>
          <p:cNvGrpSpPr/>
          <p:nvPr/>
        </p:nvGrpSpPr>
        <p:grpSpPr>
          <a:xfrm>
            <a:off x="5959099" y="2173529"/>
            <a:ext cx="5521702" cy="2297391"/>
            <a:chOff x="885314" y="1185450"/>
            <a:chExt cx="6663893" cy="2772618"/>
          </a:xfrm>
        </p:grpSpPr>
        <p:sp>
          <p:nvSpPr>
            <p:cNvPr id="118" name="Google Shape;118;p17"/>
            <p:cNvSpPr/>
            <p:nvPr/>
          </p:nvSpPr>
          <p:spPr>
            <a:xfrm rot="10800000">
              <a:off x="1285964" y="1586300"/>
              <a:ext cx="1960800" cy="1960800"/>
            </a:xfrm>
            <a:prstGeom prst="pie">
              <a:avLst>
                <a:gd name="adj1" fmla="val 5417446"/>
                <a:gd name="adj2" fmla="val 16200000"/>
              </a:avLst>
            </a:prstGeom>
            <a:gradFill>
              <a:gsLst>
                <a:gs pos="0">
                  <a:srgbClr val="72C8FF"/>
                </a:gs>
                <a:gs pos="63000">
                  <a:srgbClr val="72C8FF"/>
                </a:gs>
                <a:gs pos="85000">
                  <a:srgbClr val="72C8FF">
                    <a:alpha val="23921"/>
                  </a:srgbClr>
                </a:gs>
                <a:gs pos="94000">
                  <a:srgbClr val="72C8FF">
                    <a:alpha val="0"/>
                  </a:srgbClr>
                </a:gs>
                <a:gs pos="100000">
                  <a:srgbClr val="72C8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75750" tIns="75750" rIns="75750" bIns="757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60"/>
            </a:p>
          </p:txBody>
        </p:sp>
        <p:sp>
          <p:nvSpPr>
            <p:cNvPr id="119" name="Google Shape;119;p17"/>
            <p:cNvSpPr txBox="1"/>
            <p:nvPr/>
          </p:nvSpPr>
          <p:spPr>
            <a:xfrm>
              <a:off x="2272739" y="1590518"/>
              <a:ext cx="4860000" cy="1961400"/>
            </a:xfrm>
            <a:prstGeom prst="rect">
              <a:avLst/>
            </a:prstGeom>
            <a:solidFill>
              <a:srgbClr val="B4DFD7"/>
            </a:solidFill>
            <a:ln>
              <a:noFill/>
            </a:ln>
          </p:spPr>
          <p:txBody>
            <a:bodyPr spcFirstLastPara="1" wrap="square" lIns="75750" tIns="151525" rIns="75750" bIns="1060750" anchor="t" anchorCtr="0">
              <a:noAutofit/>
            </a:bodyPr>
            <a:lstStyle/>
            <a:p>
              <a:pPr marL="0" lvl="0" indent="0" algn="l" rtl="0">
                <a:lnSpc>
                  <a:spcPct val="65000"/>
                </a:lnSpc>
                <a:spcBef>
                  <a:spcPts val="0"/>
                </a:spcBef>
                <a:spcAft>
                  <a:spcPts val="0"/>
                </a:spcAft>
                <a:buSzPts val="843"/>
                <a:buNone/>
              </a:pPr>
              <a:endParaRPr sz="4018" b="1">
                <a:solidFill>
                  <a:srgbClr val="FFFFFF"/>
                </a:solidFill>
              </a:endParaRPr>
            </a:p>
          </p:txBody>
        </p:sp>
        <p:sp>
          <p:nvSpPr>
            <p:cNvPr id="120" name="Google Shape;120;p17"/>
            <p:cNvSpPr/>
            <p:nvPr/>
          </p:nvSpPr>
          <p:spPr>
            <a:xfrm rot="-2678099">
              <a:off x="5180459" y="1593378"/>
              <a:ext cx="1964595" cy="1956745"/>
            </a:xfrm>
            <a:prstGeom prst="pie">
              <a:avLst>
                <a:gd name="adj1" fmla="val 18871670"/>
                <a:gd name="adj2" fmla="val 8081754"/>
              </a:avLst>
            </a:prstGeom>
            <a:gradFill>
              <a:gsLst>
                <a:gs pos="0">
                  <a:srgbClr val="72C8FF"/>
                </a:gs>
                <a:gs pos="36000">
                  <a:srgbClr val="72C8FF"/>
                </a:gs>
                <a:gs pos="60000">
                  <a:srgbClr val="72C8FF">
                    <a:alpha val="23921"/>
                  </a:srgbClr>
                </a:gs>
                <a:gs pos="77000">
                  <a:srgbClr val="72C8FF">
                    <a:alpha val="0"/>
                  </a:srgbClr>
                </a:gs>
                <a:gs pos="100000">
                  <a:srgbClr val="72C8FF">
                    <a:alpha val="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75750" tIns="75750" rIns="75750" bIns="757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60"/>
            </a:p>
          </p:txBody>
        </p:sp>
        <p:sp>
          <p:nvSpPr>
            <p:cNvPr id="121" name="Google Shape;121;p17"/>
            <p:cNvSpPr/>
            <p:nvPr/>
          </p:nvSpPr>
          <p:spPr>
            <a:xfrm rot="-2678099">
              <a:off x="3233765" y="1593378"/>
              <a:ext cx="1964595" cy="1956745"/>
            </a:xfrm>
            <a:prstGeom prst="pie">
              <a:avLst>
                <a:gd name="adj1" fmla="val 18871670"/>
                <a:gd name="adj2" fmla="val 8081754"/>
              </a:avLst>
            </a:prstGeom>
            <a:gradFill>
              <a:gsLst>
                <a:gs pos="0">
                  <a:srgbClr val="72C8FF"/>
                </a:gs>
                <a:gs pos="46000">
                  <a:srgbClr val="72C8FF"/>
                </a:gs>
                <a:gs pos="69000">
                  <a:srgbClr val="72C8FF">
                    <a:alpha val="23921"/>
                  </a:srgbClr>
                </a:gs>
                <a:gs pos="85000">
                  <a:srgbClr val="72C8FF">
                    <a:alpha val="0"/>
                  </a:srgbClr>
                </a:gs>
                <a:gs pos="100000">
                  <a:srgbClr val="72C8FF">
                    <a:alpha val="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75750" tIns="75750" rIns="75750" bIns="757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60"/>
            </a:p>
          </p:txBody>
        </p:sp>
        <p:sp>
          <p:nvSpPr>
            <p:cNvPr id="122" name="Google Shape;122;p17"/>
            <p:cNvSpPr/>
            <p:nvPr/>
          </p:nvSpPr>
          <p:spPr>
            <a:xfrm rot="-2678099">
              <a:off x="2264690" y="1593378"/>
              <a:ext cx="1964595" cy="1956745"/>
            </a:xfrm>
            <a:prstGeom prst="pie">
              <a:avLst>
                <a:gd name="adj1" fmla="val 18871670"/>
                <a:gd name="adj2" fmla="val 8081754"/>
              </a:avLst>
            </a:prstGeom>
            <a:gradFill>
              <a:gsLst>
                <a:gs pos="0">
                  <a:srgbClr val="72C8FF"/>
                </a:gs>
                <a:gs pos="55000">
                  <a:srgbClr val="72C8FF"/>
                </a:gs>
                <a:gs pos="77000">
                  <a:srgbClr val="72C8FF">
                    <a:alpha val="23921"/>
                  </a:srgbClr>
                </a:gs>
                <a:gs pos="90000">
                  <a:srgbClr val="72C8FF">
                    <a:alpha val="0"/>
                  </a:srgbClr>
                </a:gs>
                <a:gs pos="100000">
                  <a:srgbClr val="72C8FF">
                    <a:alpha val="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75750" tIns="75750" rIns="75750" bIns="757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60"/>
            </a:p>
          </p:txBody>
        </p:sp>
        <p:sp>
          <p:nvSpPr>
            <p:cNvPr id="123" name="Google Shape;123;p17"/>
            <p:cNvSpPr/>
            <p:nvPr/>
          </p:nvSpPr>
          <p:spPr>
            <a:xfrm rot="-2678099">
              <a:off x="1289466" y="1593378"/>
              <a:ext cx="1964595" cy="1956745"/>
            </a:xfrm>
            <a:prstGeom prst="pie">
              <a:avLst>
                <a:gd name="adj1" fmla="val 18871670"/>
                <a:gd name="adj2" fmla="val 8081754"/>
              </a:avLst>
            </a:prstGeom>
            <a:gradFill>
              <a:gsLst>
                <a:gs pos="0">
                  <a:srgbClr val="72C8FF"/>
                </a:gs>
                <a:gs pos="63000">
                  <a:srgbClr val="72C8FF"/>
                </a:gs>
                <a:gs pos="85000">
                  <a:srgbClr val="72C8FF">
                    <a:alpha val="23921"/>
                  </a:srgbClr>
                </a:gs>
                <a:gs pos="94000">
                  <a:srgbClr val="72C8FF">
                    <a:alpha val="0"/>
                  </a:srgbClr>
                </a:gs>
                <a:gs pos="100000">
                  <a:srgbClr val="72C8FF">
                    <a:alpha val="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75750" tIns="75750" rIns="75750" bIns="7575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60"/>
            </a:p>
          </p:txBody>
        </p:sp>
        <p:sp>
          <p:nvSpPr>
            <p:cNvPr id="124" name="Google Shape;124;p17"/>
            <p:cNvSpPr/>
            <p:nvPr/>
          </p:nvSpPr>
          <p:spPr>
            <a:xfrm rot="-2678099">
              <a:off x="4205875" y="1593378"/>
              <a:ext cx="1964595" cy="1956745"/>
            </a:xfrm>
            <a:prstGeom prst="pie">
              <a:avLst>
                <a:gd name="adj1" fmla="val 18871670"/>
                <a:gd name="adj2" fmla="val 8081754"/>
              </a:avLst>
            </a:prstGeom>
            <a:gradFill>
              <a:gsLst>
                <a:gs pos="0">
                  <a:srgbClr val="72C8FF"/>
                </a:gs>
                <a:gs pos="48000">
                  <a:srgbClr val="72C8FF"/>
                </a:gs>
                <a:gs pos="68000">
                  <a:srgbClr val="72C8FF">
                    <a:alpha val="23921"/>
                  </a:srgbClr>
                </a:gs>
                <a:gs pos="80000">
                  <a:srgbClr val="72C8FF">
                    <a:alpha val="0"/>
                  </a:srgbClr>
                </a:gs>
                <a:gs pos="100000">
                  <a:srgbClr val="72C8FF">
                    <a:alpha val="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75750" tIns="75750" rIns="75750" bIns="757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60"/>
            </a:p>
          </p:txBody>
        </p:sp>
        <p:sp>
          <p:nvSpPr>
            <p:cNvPr id="125" name="Google Shape;125;p17"/>
            <p:cNvSpPr txBox="1"/>
            <p:nvPr/>
          </p:nvSpPr>
          <p:spPr>
            <a:xfrm>
              <a:off x="2272746" y="1918368"/>
              <a:ext cx="4251300" cy="203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750" tIns="151525" rIns="75750" bIns="75750" anchor="ctr" anchorCtr="0">
              <a:noAutofit/>
            </a:bodyPr>
            <a:lstStyle/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300" b="1">
                  <a:solidFill>
                    <a:schemeClr val="dk1"/>
                  </a:solidFill>
                </a:rPr>
                <a:t>Proposed Solution</a:t>
              </a:r>
              <a:endParaRPr sz="1300" b="1">
                <a:solidFill>
                  <a:schemeClr val="dk1"/>
                </a:solidFill>
              </a:endParaRPr>
            </a:p>
            <a:p>
              <a:pPr marL="45720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300" b="1" i="1">
                  <a:solidFill>
                    <a:schemeClr val="dk1"/>
                  </a:solidFill>
                </a:rPr>
                <a:t>Nagrik Aur Samvidhan :</a:t>
              </a:r>
              <a:r>
                <a:rPr lang="en-US" sz="1300" b="1">
                  <a:solidFill>
                    <a:schemeClr val="dk1"/>
                  </a:solidFill>
                </a:rPr>
                <a:t> </a:t>
              </a:r>
              <a:r>
                <a:rPr lang="en-US" sz="1300">
                  <a:solidFill>
                    <a:schemeClr val="dk1"/>
                  </a:solidFill>
                </a:rPr>
                <a:t>Interactive, scenario-based web platform to enhance constitutional literacy for all citizens.</a:t>
              </a:r>
              <a:endParaRPr sz="1300">
                <a:solidFill>
                  <a:schemeClr val="dk1"/>
                </a:solidFill>
              </a:endParaRPr>
            </a:p>
            <a:p>
              <a:pPr marL="342900" lvl="0" indent="-190500" algn="just" rtl="0"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1900">
                <a:solidFill>
                  <a:schemeClr val="dk1"/>
                </a:solidFill>
              </a:endParaRPr>
            </a:p>
            <a:p>
              <a:pPr marL="0" marR="637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314" b="1">
                <a:solidFill>
                  <a:srgbClr val="010101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Analysis of Problem Statement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8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 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32" name="Google Shape;132;p18"/>
          <p:cNvPicPr preferRelativeResize="0"/>
          <p:nvPr/>
        </p:nvPicPr>
        <p:blipFill rotWithShape="1">
          <a:blip r:embed="rId3">
            <a:alphaModFix/>
          </a:blip>
          <a:srcRect b="10418"/>
          <a:stretch/>
        </p:blipFill>
        <p:spPr>
          <a:xfrm>
            <a:off x="731700" y="938188"/>
            <a:ext cx="11120949" cy="536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Analysis of Problem Statement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(contd...)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0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" name="Google Shape;146;p20"/>
          <p:cNvGrpSpPr/>
          <p:nvPr/>
        </p:nvGrpSpPr>
        <p:grpSpPr>
          <a:xfrm>
            <a:off x="823650" y="1076700"/>
            <a:ext cx="11181812" cy="5019296"/>
            <a:chOff x="1042730" y="666908"/>
            <a:chExt cx="7413520" cy="3860700"/>
          </a:xfrm>
        </p:grpSpPr>
        <p:sp>
          <p:nvSpPr>
            <p:cNvPr id="147" name="Google Shape;147;p20"/>
            <p:cNvSpPr txBox="1"/>
            <p:nvPr/>
          </p:nvSpPr>
          <p:spPr>
            <a:xfrm>
              <a:off x="1042730" y="666908"/>
              <a:ext cx="2853300" cy="3767100"/>
            </a:xfrm>
            <a:prstGeom prst="rect">
              <a:avLst/>
            </a:prstGeom>
            <a:solidFill>
              <a:srgbClr val="BED2FF"/>
            </a:solidFill>
            <a:ln>
              <a:noFill/>
            </a:ln>
          </p:spPr>
          <p:txBody>
            <a:bodyPr spcFirstLastPara="1" wrap="square" lIns="178300" tIns="178300" rIns="178300" bIns="178300" anchor="t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lang="en-US" sz="1800" b="1">
                  <a:solidFill>
                    <a:schemeClr val="dk1"/>
                  </a:solidFill>
                </a:rPr>
                <a:t>Frontend:</a:t>
              </a:r>
              <a:r>
                <a:rPr lang="en-US" sz="1800">
                  <a:solidFill>
                    <a:schemeClr val="dk1"/>
                  </a:solidFill>
                </a:rPr>
                <a:t> React.js | CSS / Tailwind CSS | JavaScript </a:t>
              </a:r>
              <a:endParaRPr sz="180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80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lang="en-US" sz="1800" b="1">
                  <a:solidFill>
                    <a:schemeClr val="dk1"/>
                  </a:solidFill>
                </a:rPr>
                <a:t>Backend:</a:t>
              </a:r>
              <a:r>
                <a:rPr lang="en-US" sz="1800">
                  <a:solidFill>
                    <a:schemeClr val="dk1"/>
                  </a:solidFill>
                </a:rPr>
                <a:t> Node.js | Express.js</a:t>
              </a:r>
              <a:endParaRPr sz="180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80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lang="en-US" sz="1800" b="1">
                  <a:solidFill>
                    <a:schemeClr val="dk1"/>
                  </a:solidFill>
                </a:rPr>
                <a:t>Database:</a:t>
              </a:r>
              <a:r>
                <a:rPr lang="en-US" sz="1800">
                  <a:solidFill>
                    <a:schemeClr val="dk1"/>
                  </a:solidFill>
                </a:rPr>
                <a:t> PostgreSQL / Firebase</a:t>
              </a:r>
              <a:endParaRPr sz="180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80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lang="en-US" sz="1800" b="1">
                  <a:solidFill>
                    <a:schemeClr val="dk1"/>
                  </a:solidFill>
                </a:rPr>
                <a:t>AI/NLP:</a:t>
              </a:r>
              <a:r>
                <a:rPr lang="en-US" sz="1800">
                  <a:solidFill>
                    <a:schemeClr val="dk1"/>
                  </a:solidFill>
                </a:rPr>
                <a:t> Hugging Face Transformers | OpenAI API / Rasa NLU</a:t>
              </a:r>
              <a:endParaRPr sz="180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80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323"/>
                <a:buNone/>
              </a:pPr>
              <a:r>
                <a:rPr lang="en-US" sz="1800" b="1">
                  <a:solidFill>
                    <a:schemeClr val="dk1"/>
                  </a:solidFill>
                </a:rPr>
                <a:t>Hosting:</a:t>
              </a:r>
              <a:r>
                <a:rPr lang="en-US" sz="1800">
                  <a:solidFill>
                    <a:schemeClr val="dk1"/>
                  </a:solidFill>
                </a:rPr>
                <a:t> Vercel / Netlify (Frontend) | AWS / Railway (Backend &amp; DB)</a:t>
              </a:r>
              <a:endParaRPr sz="3326" b="1">
                <a:solidFill>
                  <a:srgbClr val="520D41"/>
                </a:solidFill>
              </a:endParaRPr>
            </a:p>
          </p:txBody>
        </p:sp>
        <p:sp>
          <p:nvSpPr>
            <p:cNvPr id="148" name="Google Shape;148;p20"/>
            <p:cNvSpPr/>
            <p:nvPr/>
          </p:nvSpPr>
          <p:spPr>
            <a:xfrm>
              <a:off x="1043028" y="3667190"/>
              <a:ext cx="1676700" cy="80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8300" tIns="178300" rIns="178300" bIns="178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520D41"/>
                  </a:solidFill>
                </a:rPr>
                <a:t>TECH STACK</a:t>
              </a:r>
              <a:endParaRPr sz="1300" b="1">
                <a:solidFill>
                  <a:srgbClr val="520D41"/>
                </a:solidFill>
              </a:endParaRPr>
            </a:p>
          </p:txBody>
        </p:sp>
        <p:sp>
          <p:nvSpPr>
            <p:cNvPr id="149" name="Google Shape;149;p20"/>
            <p:cNvSpPr txBox="1"/>
            <p:nvPr/>
          </p:nvSpPr>
          <p:spPr>
            <a:xfrm>
              <a:off x="4102350" y="666908"/>
              <a:ext cx="4353900" cy="3860700"/>
            </a:xfrm>
            <a:prstGeom prst="rect">
              <a:avLst/>
            </a:prstGeom>
            <a:solidFill>
              <a:srgbClr val="D2ECAA"/>
            </a:solidFill>
            <a:ln>
              <a:noFill/>
            </a:ln>
          </p:spPr>
          <p:txBody>
            <a:bodyPr spcFirstLastPara="1" wrap="square" lIns="178300" tIns="178300" rIns="178300" bIns="178300" anchor="t" anchorCtr="0">
              <a:noAutofit/>
            </a:bodyPr>
            <a:lstStyle/>
            <a:p>
              <a:pPr marL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500" b="1">
                  <a:solidFill>
                    <a:schemeClr val="dk1"/>
                  </a:solidFill>
                </a:rPr>
                <a:t>User Onboarding:</a:t>
              </a:r>
              <a:r>
                <a:rPr lang="en-US" sz="1500">
                  <a:solidFill>
                    <a:schemeClr val="dk1"/>
                  </a:solidFill>
                </a:rPr>
                <a:t> Multilingual + Accessibility settings.</a:t>
              </a:r>
              <a:br>
                <a:rPr lang="en-US" sz="1500">
                  <a:solidFill>
                    <a:schemeClr val="dk1"/>
                  </a:solidFill>
                </a:rPr>
              </a:br>
              <a:endParaRPr sz="150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500" b="1">
                  <a:solidFill>
                    <a:schemeClr val="dk1"/>
                  </a:solidFill>
                </a:rPr>
                <a:t>Content Sources:</a:t>
              </a:r>
              <a:br>
                <a:rPr lang="en-US" sz="1500" b="1">
                  <a:solidFill>
                    <a:schemeClr val="dk1"/>
                  </a:solidFill>
                </a:rPr>
              </a:br>
              <a:endParaRPr sz="1500" b="1">
                <a:solidFill>
                  <a:schemeClr val="dk1"/>
                </a:solidFill>
              </a:endParaRPr>
            </a:p>
            <a:p>
              <a:pPr marL="457200" lvl="0" indent="-32385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Char char="●"/>
              </a:pPr>
              <a:r>
                <a:rPr lang="en-US" sz="1500">
                  <a:solidFill>
                    <a:schemeClr val="dk1"/>
                  </a:solidFill>
                </a:rPr>
                <a:t>legislative.gov.in – Official Constitution text</a:t>
              </a:r>
              <a:br>
                <a:rPr lang="en-US" sz="1500">
                  <a:solidFill>
                    <a:schemeClr val="dk1"/>
                  </a:solidFill>
                </a:rPr>
              </a:br>
              <a:endParaRPr sz="1500">
                <a:solidFill>
                  <a:schemeClr val="dk1"/>
                </a:solidFill>
              </a:endParaRPr>
            </a:p>
            <a:p>
              <a:pPr marL="457200" lvl="0" indent="-32385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Char char="●"/>
              </a:pPr>
              <a:r>
                <a:rPr lang="en-US" sz="1500">
                  <a:solidFill>
                    <a:schemeClr val="dk1"/>
                  </a:solidFill>
                </a:rPr>
                <a:t>ncert.nic.in – Civics textbooks (simplified language)</a:t>
              </a:r>
              <a:br>
                <a:rPr lang="en-US" sz="1500">
                  <a:solidFill>
                    <a:schemeClr val="dk1"/>
                  </a:solidFill>
                </a:rPr>
              </a:br>
              <a:endParaRPr sz="1500">
                <a:solidFill>
                  <a:schemeClr val="dk1"/>
                </a:solidFill>
              </a:endParaRPr>
            </a:p>
            <a:p>
              <a:pPr marL="457200" lvl="0" indent="-32385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Char char="●"/>
              </a:pPr>
              <a:r>
                <a:rPr lang="en-US" sz="1500">
                  <a:solidFill>
                    <a:schemeClr val="dk1"/>
                  </a:solidFill>
                </a:rPr>
                <a:t>PRS Legislative Research – Summaries &amp; analysis</a:t>
              </a:r>
              <a:br>
                <a:rPr lang="en-US" sz="1500">
                  <a:solidFill>
                    <a:schemeClr val="dk1"/>
                  </a:solidFill>
                </a:rPr>
              </a:br>
              <a:endParaRPr sz="1500">
                <a:solidFill>
                  <a:schemeClr val="dk1"/>
                </a:solidFill>
              </a:endParaRPr>
            </a:p>
            <a:p>
              <a:pPr marL="457200" lvl="0" indent="-32385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Char char="●"/>
              </a:pPr>
              <a:r>
                <a:rPr lang="en-US" sz="1500">
                  <a:solidFill>
                    <a:schemeClr val="dk1"/>
                  </a:solidFill>
                </a:rPr>
                <a:t>Kaggle datasets on </a:t>
              </a:r>
              <a:r>
                <a:rPr lang="en-US" sz="1500" i="1">
                  <a:solidFill>
                    <a:schemeClr val="dk1"/>
                  </a:solidFill>
                </a:rPr>
                <a:t>Indian Constitution</a:t>
              </a:r>
              <a:r>
                <a:rPr lang="en-US" sz="1500">
                  <a:solidFill>
                    <a:schemeClr val="dk1"/>
                  </a:solidFill>
                </a:rPr>
                <a:t> &amp; </a:t>
              </a:r>
              <a:r>
                <a:rPr lang="en-US" sz="1500" i="1">
                  <a:solidFill>
                    <a:schemeClr val="dk1"/>
                  </a:solidFill>
                </a:rPr>
                <a:t>Fundamental Rights</a:t>
              </a:r>
              <a:br>
                <a:rPr lang="en-US" sz="1500" i="1">
                  <a:solidFill>
                    <a:schemeClr val="dk1"/>
                  </a:solidFill>
                </a:rPr>
              </a:br>
              <a:endParaRPr sz="1500" i="1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500" b="1">
                  <a:solidFill>
                    <a:schemeClr val="dk1"/>
                  </a:solidFill>
                </a:rPr>
                <a:t>Interactive Learning:</a:t>
              </a:r>
              <a:r>
                <a:rPr lang="en-US" sz="1500">
                  <a:solidFill>
                    <a:schemeClr val="dk1"/>
                  </a:solidFill>
                </a:rPr>
                <a:t> Scenario-based modules + Spin-a-Wheel, Card, Board simulations.</a:t>
              </a:r>
              <a:br>
                <a:rPr lang="en-US" sz="1500">
                  <a:solidFill>
                    <a:schemeClr val="dk1"/>
                  </a:solidFill>
                </a:rPr>
              </a:br>
              <a:endParaRPr sz="150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500" b="1">
                  <a:solidFill>
                    <a:schemeClr val="dk1"/>
                  </a:solidFill>
                </a:rPr>
                <a:t>AI Chatbot:</a:t>
              </a:r>
              <a:br>
                <a:rPr lang="en-US" sz="1500" b="1">
                  <a:solidFill>
                    <a:schemeClr val="dk1"/>
                  </a:solidFill>
                </a:rPr>
              </a:br>
              <a:endParaRPr sz="1500" b="1">
                <a:solidFill>
                  <a:schemeClr val="dk1"/>
                </a:solidFill>
              </a:endParaRPr>
            </a:p>
            <a:p>
              <a:pPr marL="457200" lvl="0" indent="-32385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Char char="●"/>
              </a:pPr>
              <a:r>
                <a:rPr lang="en-US" sz="1500">
                  <a:solidFill>
                    <a:schemeClr val="dk1"/>
                  </a:solidFill>
                </a:rPr>
                <a:t>Hugging Face translation → </a:t>
              </a:r>
              <a:r>
                <a:rPr lang="en-US" sz="1500">
                  <a:solidFill>
                    <a:srgbClr val="188038"/>
                  </a:solidFill>
                </a:rPr>
                <a:t>facebook/mbart-large-50</a:t>
              </a:r>
              <a:br>
                <a:rPr lang="en-US" sz="1500">
                  <a:solidFill>
                    <a:srgbClr val="188038"/>
                  </a:solidFill>
                </a:rPr>
              </a:br>
              <a:endParaRPr sz="1500">
                <a:solidFill>
                  <a:srgbClr val="188038"/>
                </a:solidFill>
              </a:endParaRPr>
            </a:p>
            <a:p>
              <a:pPr marL="457200" lvl="0" indent="-32385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Char char="●"/>
              </a:pPr>
              <a:r>
                <a:rPr lang="en-US" sz="1500">
                  <a:solidFill>
                    <a:schemeClr val="dk1"/>
                  </a:solidFill>
                </a:rPr>
                <a:t>QA model → </a:t>
              </a:r>
              <a:r>
                <a:rPr lang="en-US" sz="1500">
                  <a:solidFill>
                    <a:srgbClr val="188038"/>
                  </a:solidFill>
                </a:rPr>
                <a:t>deepset/roberta-base-squad2</a:t>
              </a:r>
              <a:r>
                <a:rPr lang="en-US" sz="1500">
                  <a:solidFill>
                    <a:schemeClr val="dk1"/>
                  </a:solidFill>
                </a:rPr>
                <a:t> (fine-tuned)</a:t>
              </a:r>
              <a:br>
                <a:rPr lang="en-US" sz="1500">
                  <a:solidFill>
                    <a:schemeClr val="dk1"/>
                  </a:solidFill>
                </a:rPr>
              </a:br>
              <a:endParaRPr sz="150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500" b="1">
                  <a:solidFill>
                    <a:schemeClr val="dk1"/>
                  </a:solidFill>
                </a:rPr>
                <a:t>Progress Tracking:</a:t>
              </a:r>
              <a:r>
                <a:rPr lang="en-US" sz="1500">
                  <a:solidFill>
                    <a:schemeClr val="dk1"/>
                  </a:solidFill>
                </a:rPr>
                <a:t> Milestones &amp; Leaderboards.</a:t>
              </a:r>
              <a:br>
                <a:rPr lang="en-US" sz="1500">
                  <a:solidFill>
                    <a:schemeClr val="dk1"/>
                  </a:solidFill>
                </a:rPr>
              </a:br>
              <a:endParaRPr sz="150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500" b="1">
                  <a:solidFill>
                    <a:schemeClr val="dk1"/>
                  </a:solidFill>
                </a:rPr>
                <a:t>Admin Panel:</a:t>
              </a:r>
              <a:r>
                <a:rPr lang="en-US" sz="1500">
                  <a:solidFill>
                    <a:schemeClr val="dk1"/>
                  </a:solidFill>
                </a:rPr>
                <a:t> Manage content, scenarios, analytics.</a:t>
              </a:r>
              <a:br>
                <a:rPr lang="en-US" sz="1500">
                  <a:solidFill>
                    <a:schemeClr val="dk1"/>
                  </a:solidFill>
                </a:rPr>
              </a:br>
              <a:endParaRPr sz="150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500" b="1">
                  <a:solidFill>
                    <a:schemeClr val="dk1"/>
                  </a:solidFill>
                </a:rPr>
                <a:t>External Links:</a:t>
              </a:r>
              <a:r>
                <a:rPr lang="en-US" sz="1500">
                  <a:solidFill>
                    <a:schemeClr val="dk1"/>
                  </a:solidFill>
                </a:rPr>
                <a:t> Govt portals, legal aid resources, RTI filing.</a:t>
              </a:r>
              <a:endParaRPr sz="150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323"/>
                <a:buNone/>
              </a:pPr>
              <a:endParaRPr sz="3026" b="1">
                <a:solidFill>
                  <a:srgbClr val="073B2B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>
            <a:spLocks noGrp="1"/>
          </p:cNvSpPr>
          <p:nvPr>
            <p:ph type="title"/>
          </p:nvPr>
        </p:nvSpPr>
        <p:spPr>
          <a:xfrm>
            <a:off x="651075" y="292613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0" algn="just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Innovation or Novel Contributions</a:t>
            </a:r>
            <a:endParaRPr sz="2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9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 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1133800" y="1132500"/>
            <a:ext cx="10347000" cy="449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800" b="1" dirty="0"/>
              <a:t>Why It’s Unique???</a:t>
            </a:r>
            <a:br>
              <a:rPr lang="en-US" sz="1800" b="1" dirty="0"/>
            </a:br>
            <a:br>
              <a:rPr lang="en-US" sz="1800" b="1" dirty="0"/>
            </a:br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Holistic Constitutional Learning Platform</a:t>
            </a:r>
            <a:r>
              <a:rPr lang="en-US" sz="1800" dirty="0"/>
              <a:t> – Instead of static textbook material, our system integrates </a:t>
            </a:r>
            <a:r>
              <a:rPr lang="en-US" sz="1800" b="1" dirty="0"/>
              <a:t>interactive visuals, timelines, and datasets</a:t>
            </a:r>
            <a:r>
              <a:rPr lang="en-US" sz="1800" dirty="0"/>
              <a:t> to make concepts like Preamble, Fundamental Rights, and Duties engaging for learners.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Multi-Modal Delivery</a:t>
            </a:r>
            <a:r>
              <a:rPr lang="en-US" sz="1800" dirty="0"/>
              <a:t> – Combines </a:t>
            </a:r>
            <a:r>
              <a:rPr lang="en-US" sz="1800" b="1" dirty="0"/>
              <a:t>text, infographics, and audio</a:t>
            </a:r>
            <a:r>
              <a:rPr lang="en-US" sz="1800" dirty="0"/>
              <a:t> (and potentially video) for better retention, catering to diverse learning styles.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Real-World Data Integration</a:t>
            </a:r>
            <a:r>
              <a:rPr lang="en-US" sz="1800" dirty="0"/>
              <a:t> – Links constitutional topics to </a:t>
            </a:r>
            <a:r>
              <a:rPr lang="en-US" sz="1800" b="1" dirty="0"/>
              <a:t>open datasets</a:t>
            </a:r>
            <a:r>
              <a:rPr lang="en-US" sz="1800" dirty="0"/>
              <a:t> (e.g., Kaggle, Government portals) for contextual learning with current, relevant examples.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Gamified Engagement</a:t>
            </a:r>
            <a:r>
              <a:rPr lang="en-US" sz="1800" dirty="0"/>
              <a:t> – Uses quizzes, challenges, and milestone badges to sustain interest and improve recall.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Adaptive Learning Path</a:t>
            </a:r>
            <a:r>
              <a:rPr lang="en-US" sz="1800" dirty="0"/>
              <a:t> – Suggests topics dynamically based on user’s progress and knowledge gaps, creating a </a:t>
            </a:r>
            <a:r>
              <a:rPr lang="en-US" sz="1800" b="1" dirty="0"/>
              <a:t>personalized civic education journey</a:t>
            </a:r>
            <a:r>
              <a:rPr lang="en-US" sz="1800" dirty="0"/>
              <a:t>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Github Link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1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1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i="0" u="none" strike="noStrike" cap="none">
              <a:solidFill>
                <a:schemeClr val="dk1"/>
              </a:solidFill>
            </a:endParaRPr>
          </a:p>
          <a:p>
            <a:pPr marL="342900" marR="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i="0" u="none" strike="noStrike" cap="none">
              <a:solidFill>
                <a:schemeClr val="dk1"/>
              </a:solidFill>
            </a:endParaRPr>
          </a:p>
          <a:p>
            <a:pPr marL="342900" marR="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i="0" u="none" strike="noStrike" cap="none">
              <a:solidFill>
                <a:schemeClr val="dk1"/>
              </a:solidFill>
            </a:endParaRPr>
          </a:p>
          <a:p>
            <a:pPr marL="342900" marR="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i="0" u="none" strike="noStrike" cap="none">
              <a:solidFill>
                <a:schemeClr val="dk1"/>
              </a:solidFill>
            </a:endParaRPr>
          </a:p>
          <a:p>
            <a:pPr marL="342900" marR="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157" name="Google Shape;157;p21"/>
          <p:cNvSpPr txBox="1"/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i="0" u="none" strike="noStrike" cap="none" dirty="0">
                <a:solidFill>
                  <a:schemeClr val="dk1"/>
                </a:solidFill>
              </a:rPr>
              <a:t>Th</a:t>
            </a:r>
            <a:r>
              <a:rPr lang="en-US" sz="2400" dirty="0">
                <a:solidFill>
                  <a:schemeClr val="dk1"/>
                </a:solidFill>
              </a:rPr>
              <a:t>is</a:t>
            </a:r>
            <a:r>
              <a:rPr lang="en-US" sz="240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2400" i="0" u="none" strike="noStrike" cap="none" dirty="0" err="1">
                <a:solidFill>
                  <a:schemeClr val="dk1"/>
                </a:solidFill>
              </a:rPr>
              <a:t>Github</a:t>
            </a:r>
            <a:r>
              <a:rPr lang="en-US" sz="2400" i="0" u="none" strike="noStrike" cap="none" dirty="0">
                <a:solidFill>
                  <a:schemeClr val="dk1"/>
                </a:solidFill>
              </a:rPr>
              <a:t> link ha</a:t>
            </a:r>
            <a:r>
              <a:rPr lang="en-US" sz="2400" dirty="0">
                <a:solidFill>
                  <a:schemeClr val="dk1"/>
                </a:solidFill>
              </a:rPr>
              <a:t>s</a:t>
            </a:r>
            <a:r>
              <a:rPr lang="en-US" sz="2400" i="0" u="none" strike="noStrike" cap="none" dirty="0">
                <a:solidFill>
                  <a:schemeClr val="dk1"/>
                </a:solidFill>
              </a:rPr>
              <a:t> public access permission.</a:t>
            </a:r>
            <a:endParaRPr sz="2400" i="0" u="none" strike="noStrike" cap="none" dirty="0">
              <a:solidFill>
                <a:schemeClr val="dk1"/>
              </a:solidFill>
            </a:endParaRPr>
          </a:p>
          <a:p>
            <a:pPr marL="342900" marR="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u="sng" dirty="0">
                <a:solidFill>
                  <a:schemeClr val="hlink"/>
                </a:solidFill>
                <a:hlinkClick r:id="rId3"/>
              </a:rPr>
              <a:t>https://github.com/Bhavana-Chandra/CSE_244</a:t>
            </a:r>
            <a:endParaRPr sz="2400" i="0" u="none" strike="noStrike" cap="none" dirty="0">
              <a:solidFill>
                <a:schemeClr val="dk1"/>
              </a:solidFill>
            </a:endParaRPr>
          </a:p>
          <a:p>
            <a:pPr marL="342900" marR="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</a:rPr>
              <a:t>Deployed through </a:t>
            </a:r>
            <a:r>
              <a:rPr lang="en-US" sz="2400" dirty="0" err="1">
                <a:solidFill>
                  <a:schemeClr val="dk1"/>
                </a:solidFill>
              </a:rPr>
              <a:t>Vercel</a:t>
            </a:r>
            <a:r>
              <a:rPr lang="en-US" sz="2400" dirty="0">
                <a:solidFill>
                  <a:schemeClr val="dk1"/>
                </a:solidFill>
              </a:rPr>
              <a:t> Link.</a:t>
            </a:r>
          </a:p>
          <a:p>
            <a:pPr marL="342900" lvl="0" indent="-190500" algn="just">
              <a:lnSpc>
                <a:spcPct val="200000"/>
              </a:lnSpc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hlinkClick r:id="rId4"/>
              </a:rPr>
              <a:t>https://cse-244-4m7l.vercel.app</a:t>
            </a:r>
            <a:endParaRPr lang="en-US" sz="2400" dirty="0">
              <a:solidFill>
                <a:schemeClr val="dk1"/>
              </a:solidFill>
            </a:endParaRPr>
          </a:p>
          <a:p>
            <a:pPr marL="342900" lvl="0" indent="-190500" algn="just">
              <a:lnSpc>
                <a:spcPct val="200000"/>
              </a:lnSpc>
              <a:buClr>
                <a:schemeClr val="dk1"/>
              </a:buClr>
              <a:buSzPts val="2400"/>
            </a:pPr>
            <a:endParaRPr sz="2400" i="0" u="none" strike="noStrike" cap="none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Timeline of the Project 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3" name="Google Shape;163;p22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 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64" name="Google Shape;164;p22"/>
          <p:cNvPicPr preferRelativeResize="0"/>
          <p:nvPr/>
        </p:nvPicPr>
        <p:blipFill rotWithShape="1">
          <a:blip r:embed="rId3">
            <a:alphaModFix/>
          </a:blip>
          <a:srcRect t="-10910" b="10909"/>
          <a:stretch/>
        </p:blipFill>
        <p:spPr>
          <a:xfrm>
            <a:off x="1244513" y="359150"/>
            <a:ext cx="9804572" cy="589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References (IEEE Paper format)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0" name="Google Shape;170;p2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[1] D. Panchal, A. Gole, V. Narute, and R. Joshi, “LawPal: A Retrieval Augmented Generation Based System for Enhanced Legal Accessibility in India,” </a:t>
            </a:r>
            <a:r>
              <a:rPr lang="en-US" sz="1400" i="1">
                <a:latin typeface="Arial"/>
                <a:ea typeface="Arial"/>
                <a:cs typeface="Arial"/>
                <a:sym typeface="Arial"/>
              </a:rPr>
              <a:t>arXiv preprint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arXiv:2502.16573, Feb. 2025.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[2] S. K. Nigam, S. K. Mishra, A. K. Mishra, N. Shallum, and A. Bhattacharya, “Legal Question-Answering in the Indian Context: Efficacy, Challenges, and Potential of Modern AI Models,” </a:t>
            </a:r>
            <a:r>
              <a:rPr lang="en-US" sz="1400" i="1">
                <a:latin typeface="Arial"/>
                <a:ea typeface="Arial"/>
                <a:cs typeface="Arial"/>
                <a:sym typeface="Arial"/>
              </a:rPr>
              <a:t>arXiv preprint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arXiv:2309.14735, Sept. 2023.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[3] S. Paul, A. Mandal, P. Goyal, and S. Ghosh, “Pre-trained Language Models for the Legal Domain: A Case Study on Indian Law,” </a:t>
            </a:r>
            <a:r>
              <a:rPr lang="en-US" sz="1400" i="1">
                <a:latin typeface="Arial"/>
                <a:ea typeface="Arial"/>
                <a:cs typeface="Arial"/>
                <a:sym typeface="Arial"/>
              </a:rPr>
              <a:t>arXiv preprint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arXiv:2209.06049, Sept. 2022.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[4] A. Tiwari, P. Kalamkar, A. Banerjee, V. Hemachandran, and S. Gupta, “Aalap: AI Assistant for Legal &amp; Paralegal Functions in India,” </a:t>
            </a:r>
            <a:r>
              <a:rPr lang="en-US" sz="1400" i="1">
                <a:latin typeface="Arial"/>
                <a:ea typeface="Arial"/>
                <a:cs typeface="Arial"/>
                <a:sym typeface="Arial"/>
              </a:rPr>
              <a:t>arXiv preprint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arXiv:2402.01758, Feb. 2024.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1524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1400"/>
          </a:p>
          <a:p>
            <a:pPr marL="152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marL="152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82811" y="1441315"/>
            <a:ext cx="3893305" cy="3935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1067</Words>
  <Application>Microsoft Office PowerPoint</Application>
  <PresentationFormat>Widescreen</PresentationFormat>
  <Paragraphs>113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Cambria</vt:lpstr>
      <vt:lpstr>Noto Sans Symbols</vt:lpstr>
      <vt:lpstr>Verdana</vt:lpstr>
      <vt:lpstr>Bioinformatics</vt:lpstr>
      <vt:lpstr>LET’S LEARN CONSTITUTION IN A SIMPLER MANNER-CITIZEN PERSPECTIVE</vt:lpstr>
      <vt:lpstr>Content</vt:lpstr>
      <vt:lpstr>Problem Statement Number :  PSCS_333</vt:lpstr>
      <vt:lpstr>Objectives of Problem Statement</vt:lpstr>
      <vt:lpstr>Background and Related work for title Selection</vt:lpstr>
      <vt:lpstr>Analysis of Problem Statement</vt:lpstr>
      <vt:lpstr>Analysis of Problem Statement (contd...)</vt:lpstr>
      <vt:lpstr>Innovation or Novel Contributions</vt:lpstr>
      <vt:lpstr>Github Link</vt:lpstr>
      <vt:lpstr>Timeline of the Project 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Bhavana</dc:creator>
  <cp:lastModifiedBy>Bhavana Chandra</cp:lastModifiedBy>
  <cp:revision>5</cp:revision>
  <dcterms:modified xsi:type="dcterms:W3CDTF">2025-12-03T05:47:01Z</dcterms:modified>
</cp:coreProperties>
</file>